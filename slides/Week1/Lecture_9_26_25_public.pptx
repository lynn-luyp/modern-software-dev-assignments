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 GSB students still left?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In the evolution of programming languages, prompting is the next phase in the progression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97227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97227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Consider how google search queries have changed from explicit boolean algebra to more naturalistic english language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Prompting has evolved (and will continue to evolve) to be more naturalistic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9fd9a61a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9fd9a61a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Prompting is important both for you prompting AI software systems more effectively but also for understanding what’s going on under the hood with existing </a:t>
            </a:r>
            <a:r>
              <a:rPr lang="en" sz="1150">
                <a:solidFill>
                  <a:srgbClr val="595959"/>
                </a:solidFill>
              </a:rPr>
              <a:t>systems</a:t>
            </a:r>
            <a:r>
              <a:rPr lang="en" sz="1150">
                <a:solidFill>
                  <a:srgbClr val="595959"/>
                </a:solidFill>
              </a:rPr>
              <a:t> like Claude Code/Cursor (they have a lot of extra prompting added).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Let’s discuss some of the most important techniques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9fd9a61ab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9fd9a61a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“Make me a heap allocator in C”.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Example in green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9fd9a61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9fd9a61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Best for domain-specific APIs (languages LLM hasn’t seen, typically in enterprise use-cases)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Generate code in specific style, format, or with consistent naming conventions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Avoid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Applying for well-known libraries/general coding tasks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Over-constraining the LLM (too many examples)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fd9a61a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9fd9a61a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Red is the before (naive way to prompt)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Green is the converted prompt using the new technique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9fd9a61a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9fd9a61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This is the workhorse for a lot of reasoning models!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fd9a61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fd9a61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Multi-shot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fd9a61a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fd9a61a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Zero-shot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fd9a61a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fd9a61a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9fd9a61a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9fd9a61a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fd9a61a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9fd9a61a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fd9a61a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fd9a61a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fd9a61a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fd9a61a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When you @context in Cursor/Windsurf/etc this is utilizing RAG.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9fd9a61a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9fd9a61a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fd9a61a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fd9a61a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Workhorse of autonomous coding agents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Reflexion is how we get fully agentic behaviors in modern coding IDEs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Also sometimes called “self-critique”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9fd9a61a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9fd9a61a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9fd9a61a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9fd9a61a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 sample system prompt for a state-of-the-art LLM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27d98ef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27d98e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27d98ef8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27d98ef8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27d98ef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27d98ef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</a:t>
            </a:r>
            <a:r>
              <a:rPr lang="en"/>
              <a:t>ser prompts are basically all of the examples we’ve seen so far in the previous slides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27d98ef8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27d98ef8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these prompts all stack together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Sys prompt usually not seen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prompt usually where you provide your ask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Assistant prompt where the LLM respo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27d98ef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27d98e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27d98ef8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27d98ef8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27d98ef8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27d98ef8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27d98ef8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27d98ef8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27d98ef8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27d98ef8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7d98ef8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27d98ef8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/>
              <a:t>We’ll talk a lot more about task decomposition in the next lessons.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27d98ef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27d98ef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CEmiRjPEt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anthropic.com/en/docs/build-with-claude/prompt-engineering/prompt-improver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Power Prompting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the </a:t>
            </a:r>
            <a:r>
              <a:rPr i="1" lang="en"/>
              <a:t>lingua franca</a:t>
            </a:r>
            <a:r>
              <a:rPr lang="en"/>
              <a:t> for getting LLMs to do what we want and also effectively programming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Screenshot 2025-08-31 at 7.5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75" y="1749975"/>
            <a:ext cx="7173402" cy="29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880350" y="2980175"/>
            <a:ext cx="1203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Courtesy of </a:t>
            </a:r>
            <a:r>
              <a:rPr i="1" lang="en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Andrej Karpathy</a:t>
            </a:r>
            <a:endParaRPr i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analogy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to how we’ve </a:t>
            </a:r>
            <a:r>
              <a:rPr lang="en"/>
              <a:t>changed our search engine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7" name="Google Shape;87;p16" title="Screenshot 2025-09-25 at 10.56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25" y="2284774"/>
            <a:ext cx="3339176" cy="139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3973325" y="2985050"/>
            <a:ext cx="5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6" title="Screenshot 2025-09-25 at 10.57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550" y="2436899"/>
            <a:ext cx="3735751" cy="129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000075"/>
            <a:ext cx="85206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Prompting is both an art and a science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Black-box nature of LLMs means there’s some magic to </a:t>
            </a:r>
            <a:r>
              <a:rPr i="1" lang="en"/>
              <a:t>LLM-whispering</a:t>
            </a:r>
            <a:r>
              <a:rPr lang="en"/>
              <a:t> effectively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…but there are established techniques that have empirically improved LLM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a 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examples</a:t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046550" y="2524575"/>
            <a:ext cx="5059200" cy="1031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2517975" y="2728875"/>
            <a:ext cx="44571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me a Rust for-loop that iterates over a list of strings for every, printing every value in an even index</a:t>
            </a:r>
            <a:endParaRPr b="1"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K-shot prompting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2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the thing but give it some examples of how to do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called </a:t>
            </a:r>
            <a:r>
              <a:rPr i="1" lang="en"/>
              <a:t>in-context learning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lang="en"/>
              <a:t>-shot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1, 3, 5 (some </a:t>
            </a:r>
            <a:r>
              <a:rPr lang="en"/>
              <a:t>empirical results justify these numbers)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 for tasks that don’t have too many reasoning steps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6486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>
            <a:off x="4157250" y="25999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0"/>
          <p:cNvSpPr/>
          <p:nvPr/>
        </p:nvSpPr>
        <p:spPr>
          <a:xfrm>
            <a:off x="49158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061100" y="21986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157975" y="1219625"/>
            <a:ext cx="2944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 </a:t>
            </a:r>
            <a:r>
              <a:rPr b="1" i="1" lang="en" sz="1200">
                <a:solidFill>
                  <a:schemeClr val="dk2"/>
                </a:solidFill>
              </a:rPr>
              <a:t>Here are some examples of how we typically format variable names.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var StRaRrAy = [‘cat’, ‘dog’, ‘wombat’]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def</a:t>
            </a:r>
            <a:r>
              <a:rPr b="1" i="1" lang="en" sz="1200">
                <a:solidFill>
                  <a:schemeClr val="dk2"/>
                </a:solidFill>
              </a:rPr>
              <a:t> func CaPiTaLiZeStR = () =&gt; {}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Chain-of-Thought Prompting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reasoning steps for a given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out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Zero-shot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“Let’s think step-by-step”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 for reasoning in explicit &lt;reasoning&gt;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for steps with multiple logical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Programming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2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2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990625" y="2149075"/>
            <a:ext cx="26187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check if a number is a perfect cube and a perfect square.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157975" y="686225"/>
            <a:ext cx="2944200" cy="3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I want to write a function to check if a </a:t>
            </a:r>
            <a:r>
              <a:rPr b="1" i="1" lang="en" sz="1100">
                <a:solidFill>
                  <a:schemeClr val="dk2"/>
                </a:solidFill>
              </a:rPr>
              <a:t>number</a:t>
            </a:r>
            <a:r>
              <a:rPr b="1" i="1" lang="en" sz="1100">
                <a:solidFill>
                  <a:schemeClr val="dk2"/>
                </a:solidFill>
              </a:rPr>
              <a:t> is a perfect cube and a perfect square. Make sure to provide your reasoning first.</a:t>
            </a:r>
            <a:r>
              <a:rPr b="1" i="1" lang="en" sz="1100">
                <a:solidFill>
                  <a:schemeClr val="dk2"/>
                </a:solidFill>
              </a:rPr>
              <a:t> Here are some examples of how to  provide reasoning for a coding task.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finds the maximum element in a list.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Steps: Initialize a variable with the first element. Traverse the list, comparing…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checks is a number is a palindrome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Steps: Take the number. Reverse the elements in the numbers. Check if 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Multi-shot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3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54850" y="2141675"/>
            <a:ext cx="261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136525" y="1451600"/>
            <a:ext cx="2944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Think step by step about the subproblems before coding. </a:t>
            </a:r>
            <a:r>
              <a:rPr b="1" i="1" lang="en" sz="1200">
                <a:solidFill>
                  <a:schemeClr val="dk2"/>
                </a:solidFill>
              </a:rPr>
              <a:t>Include worked out examples of subarrays you are considering as you answer this question.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Zero-shot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Self-consistency Prompting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 multiple times from output (typically with CoT) and aggregate most common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hallucinations/incorrect answers via a form of model ensembling by sampling diverse reasoning paths</a:t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5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5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976625" y="16951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159775" y="1014150"/>
            <a:ext cx="2944200" cy="14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800">
              <a:solidFill>
                <a:schemeClr val="dk2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6246950" y="2865675"/>
            <a:ext cx="1237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Prompt 5x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5990450" y="3466525"/>
            <a:ext cx="141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Take majority result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79" name="Google Shape;179;p25"/>
          <p:cNvCxnSpPr>
            <a:stCxn id="176" idx="2"/>
          </p:cNvCxnSpPr>
          <p:nvPr/>
        </p:nvCxnSpPr>
        <p:spPr>
          <a:xfrm>
            <a:off x="6631875" y="2452950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6630075" y="31966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LLM to defer to an external system that it needs to interact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most important techniques for reducing hallucinations and enabling the autonomy of LLMs</a:t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7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7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976625" y="19999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After you have fixed this IndexError can you ensure that the CI tests still pass?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5280950" y="1524425"/>
            <a:ext cx="26187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Fix the IndexError. Ensure the CI tests still pass once you have made the fix.</a:t>
            </a:r>
            <a:r>
              <a:rPr b="1" i="1" lang="en" sz="1100">
                <a:solidFill>
                  <a:schemeClr val="dk2"/>
                </a:solidFill>
              </a:rPr>
              <a:t> Here are the available tools. 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 -s /path/to/unit_tests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</a:t>
            </a:r>
            <a:r>
              <a:rPr b="1" i="1" lang="en" sz="1100">
                <a:solidFill>
                  <a:schemeClr val="dk2"/>
                </a:solidFill>
              </a:rPr>
              <a:t> -v /path/to/integration_tests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 Augmented Generation</a:t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Infuse the LLM with contextual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LLMs up-to-date (without retraining)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iteration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get interpretability and citations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9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9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976625" y="19700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Extend the UserAuthService class to check that the client provides a valid OAuth token.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297875" y="1077300"/>
            <a:ext cx="26187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I want to extend the UserAuthService class to check that the client provides a valid OAuth token. </a:t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how the UserAuthService works now: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def issue_oauth_token():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	….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the path to the requests-oauthlib documentation: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https://requests-oauthlib.readthedocs.io/en/latest/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Reflexion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LLM </a:t>
            </a:r>
            <a:r>
              <a:rPr i="1" lang="en"/>
              <a:t>reflect</a:t>
            </a:r>
            <a:r>
              <a:rPr lang="en"/>
              <a:t> on its output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Verbal feedback from environment signals are reincorporated into the LLM by augmenting the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an action is taken in an environment and an observation made, add a prompt suffix: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“Now critique your answer. Was it correct? If not, explain why and try again.”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Multi-turn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1: Model gives a first try.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2: You ask “</a:t>
            </a:r>
            <a:r>
              <a:rPr i="1" lang="en"/>
              <a:t>Was that correct? Reflect and revise if needed.</a:t>
            </a:r>
            <a:r>
              <a:rPr lang="en"/>
              <a:t>”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31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1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976625" y="19237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Ensure that the company_location column can handle string and json representations.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280950" y="7624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Extend the logic for company_location to be able to handle string and json representations</a:t>
            </a:r>
            <a:endParaRPr b="1" i="1" sz="800">
              <a:solidFill>
                <a:schemeClr val="dk2"/>
              </a:solidFill>
            </a:endParaRPr>
          </a:p>
        </p:txBody>
      </p:sp>
      <p:cxnSp>
        <p:nvCxnSpPr>
          <p:cNvPr id="240" name="Google Shape;240;p31"/>
          <p:cNvCxnSpPr/>
          <p:nvPr/>
        </p:nvCxnSpPr>
        <p:spPr>
          <a:xfrm>
            <a:off x="6546725" y="13669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1"/>
          <p:cNvSpPr txBox="1"/>
          <p:nvPr/>
        </p:nvSpPr>
        <p:spPr>
          <a:xfrm>
            <a:off x="5280950" y="1753025"/>
            <a:ext cx="2618700" cy="37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The unit tests for the company_location type aren’t passing.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5280875" y="25912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dk2"/>
                </a:solidFill>
              </a:rPr>
              <a:t>It appears that the unit tests for company_location are throwing a JSONDecodeError. </a:t>
            </a:r>
            <a:endParaRPr sz="800" u="sng">
              <a:solidFill>
                <a:schemeClr val="dk2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5280950" y="3581825"/>
            <a:ext cx="2618700" cy="6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I am extending the company_location column.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69138"/>
                </a:solidFill>
              </a:rPr>
              <a:t>I must ensure that when a string is provided as input it doesn’t throw a JSONDecodeError.</a:t>
            </a:r>
            <a:endParaRPr b="1" i="1" sz="800">
              <a:solidFill>
                <a:srgbClr val="E69138"/>
              </a:solidFill>
            </a:endParaRPr>
          </a:p>
        </p:txBody>
      </p:sp>
      <p:cxnSp>
        <p:nvCxnSpPr>
          <p:cNvPr id="244" name="Google Shape;244;p31"/>
          <p:cNvCxnSpPr/>
          <p:nvPr/>
        </p:nvCxnSpPr>
        <p:spPr>
          <a:xfrm>
            <a:off x="6546725" y="22051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1"/>
          <p:cNvCxnSpPr/>
          <p:nvPr/>
        </p:nvCxnSpPr>
        <p:spPr>
          <a:xfrm>
            <a:off x="6546725" y="31957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575" y="13307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observe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6720575" y="21689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reflect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6720575" y="31595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Extend prompt 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message provided to LLM (usually not seen by end user)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persona, rules about LLM output, style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66" name="Google Shape;266;p33" title="Screenshot 2025-09-24 at 12.06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800" y="177175"/>
            <a:ext cx="5451651" cy="18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3" title="Screenshot 2025-09-24 at 12.07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800" y="2402250"/>
            <a:ext cx="5338100" cy="2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4085050" y="1893450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75" name="Google Shape;275;p34" title="Screenshot 2025-09-24 at 12.09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075" y="1133524"/>
            <a:ext cx="6871676" cy="226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 txBox="1"/>
          <p:nvPr/>
        </p:nvSpPr>
        <p:spPr>
          <a:xfrm>
            <a:off x="4108325" y="671575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actual ask or instruction from a human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Basically all of our examples so far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the LLM actually generates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2050425" y="295575"/>
            <a:ext cx="4736100" cy="2001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2050425" y="2483325"/>
            <a:ext cx="4736100" cy="955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2050425" y="3577175"/>
            <a:ext cx="4736100" cy="74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3548300" y="1168361"/>
            <a:ext cx="1815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3657974" y="2733650"/>
            <a:ext cx="1558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3505022" y="3724250"/>
            <a:ext cx="2014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Assistant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improvement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https://docs.anthropic.com/en/docs/build-with-claude/prompt-engineering/prompt-improver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 prompt to someone with minimal context and if they’re confused an LLM will be too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role prompting aggressively to make system prompts more powerful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934400" y="1754325"/>
            <a:ext cx="71091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helpful assistant that loves programming at the level of a senior software developer and is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very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detailed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pedantic in your answers.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318" name="Google Shape;318;p39" title="Screenshot 2025-09-24 at 12.54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462" y="114550"/>
            <a:ext cx="5027124" cy="449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1033875" y="354600"/>
            <a:ext cx="7377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Gen Z digital bestie. Always sound like you’re texting on Snapchat at 2am.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40" title="Screenshot 2025-09-24 at 12.51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50" y="1438000"/>
            <a:ext cx="6635150" cy="27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should be formatted with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1"/>
          <p:cNvSpPr/>
          <p:nvPr/>
        </p:nvSpPr>
        <p:spPr>
          <a:xfrm>
            <a:off x="2915325" y="1750200"/>
            <a:ext cx="3177000" cy="271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34" name="Google Shape;334;p4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3317925" y="2041100"/>
            <a:ext cx="2676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the logs: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 MESSAGE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 and the stack trace: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STACK TRACE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explicit about what you want (languages, tech stacks, libraries, constraints)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Decompose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3271150" y="2164525"/>
            <a:ext cx="242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